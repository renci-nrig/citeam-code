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2E1F75-6616-445A-913D-CCCDF766C814}">
  <a:tblStyle styleId="{C72E1F75-6616-445A-913D-CCCDF766C814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65662" y="419273"/>
            <a:ext cx="10515600" cy="478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3.jpg"/><Relationship Id="rId7" Type="http://schemas.openxmlformats.org/officeDocument/2006/relationships/image" Target="../media/image9.jpg"/><Relationship Id="rId8" Type="http://schemas.openxmlformats.org/officeDocument/2006/relationships/image" Target="../media/image3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9.png"/><Relationship Id="rId13" Type="http://schemas.openxmlformats.org/officeDocument/2006/relationships/image" Target="../media/image7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5.png"/><Relationship Id="rId15" Type="http://schemas.openxmlformats.org/officeDocument/2006/relationships/image" Target="../media/image21.png"/><Relationship Id="rId1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2.jp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28.jpg"/><Relationship Id="rId8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3999" y="1122363"/>
            <a:ext cx="9673193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Electron Diffraction Patterns from Al (face center cubic structure)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325369" y="132106"/>
            <a:ext cx="11028431" cy="765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Diffraction patterns along different crystallographic directions of Al</a:t>
            </a:r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369" y="3499855"/>
            <a:ext cx="3933972" cy="262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369" y="963452"/>
            <a:ext cx="3297228" cy="219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2441" y="3495224"/>
            <a:ext cx="3933974" cy="262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3628" y="936572"/>
            <a:ext cx="3277613" cy="218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17241" y="943075"/>
            <a:ext cx="3381387" cy="225425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64638" y="6327872"/>
            <a:ext cx="11028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Polycrystalline sample of Al contains grains with different orientations.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8">
            <a:alphaModFix/>
          </a:blip>
          <a:srcRect b="16590" l="35428" r="35346" t="17378"/>
          <a:stretch/>
        </p:blipFill>
        <p:spPr>
          <a:xfrm>
            <a:off x="8613531" y="3673316"/>
            <a:ext cx="2667457" cy="244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664296" y="174391"/>
            <a:ext cx="10515600" cy="661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How to analyze diffraction patterns.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2692" y="1480992"/>
            <a:ext cx="10136937" cy="25853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66" l="-541" r="0" t="-11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2530476" y="762000"/>
            <a:ext cx="2987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Space lattice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7010401" y="722313"/>
            <a:ext cx="2987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Reciprocal  lattice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843" y="1417638"/>
            <a:ext cx="1389063" cy="201136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2828925" y="3846513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1200151" y="1386879"/>
            <a:ext cx="2146300" cy="2168525"/>
            <a:chOff x="144" y="938"/>
            <a:chExt cx="1352" cy="1366"/>
          </a:xfrm>
        </p:grpSpPr>
        <p:sp>
          <p:nvSpPr>
            <p:cNvPr id="113" name="Google Shape;113;p16"/>
            <p:cNvSpPr/>
            <p:nvPr/>
          </p:nvSpPr>
          <p:spPr>
            <a:xfrm>
              <a:off x="358" y="1066"/>
              <a:ext cx="1030" cy="935"/>
            </a:xfrm>
            <a:prstGeom prst="cube">
              <a:avLst>
                <a:gd fmla="val 25000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264" y="1875"/>
              <a:ext cx="216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1045" y="1875"/>
              <a:ext cx="216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264" y="1174"/>
              <a:ext cx="216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1261" y="958"/>
              <a:ext cx="216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471" y="938"/>
              <a:ext cx="216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1045" y="1174"/>
              <a:ext cx="216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1280" y="1660"/>
              <a:ext cx="216" cy="215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732" y="1026"/>
              <a:ext cx="215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1172" y="1390"/>
              <a:ext cx="216" cy="216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" name="Google Shape;123;p16"/>
            <p:cNvCxnSpPr/>
            <p:nvPr/>
          </p:nvCxnSpPr>
          <p:spPr>
            <a:xfrm>
              <a:off x="358" y="2001"/>
              <a:ext cx="814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" name="Google Shape;124;p16"/>
            <p:cNvCxnSpPr/>
            <p:nvPr/>
          </p:nvCxnSpPr>
          <p:spPr>
            <a:xfrm flipH="1" rot="10800000">
              <a:off x="356" y="1747"/>
              <a:ext cx="216" cy="23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dot"/>
              <a:round/>
              <a:headEnd len="med" w="med" type="none"/>
              <a:tailEnd len="med" w="med" type="triangle"/>
            </a:ln>
          </p:spPr>
        </p:cxnSp>
        <p:cxnSp>
          <p:nvCxnSpPr>
            <p:cNvPr id="125" name="Google Shape;125;p16"/>
            <p:cNvCxnSpPr/>
            <p:nvPr/>
          </p:nvCxnSpPr>
          <p:spPr>
            <a:xfrm rot="10800000">
              <a:off x="356" y="1242"/>
              <a:ext cx="0" cy="739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26" name="Google Shape;126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9" y="2001"/>
              <a:ext cx="233" cy="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4" y="1440"/>
              <a:ext cx="244" cy="3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9" y="1670"/>
              <a:ext cx="237" cy="34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9" name="Google Shape;129;p16"/>
            <p:cNvCxnSpPr/>
            <p:nvPr/>
          </p:nvCxnSpPr>
          <p:spPr>
            <a:xfrm>
              <a:off x="572" y="1066"/>
              <a:ext cx="0" cy="7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16"/>
            <p:cNvCxnSpPr/>
            <p:nvPr/>
          </p:nvCxnSpPr>
          <p:spPr>
            <a:xfrm flipH="1" rot="10800000">
              <a:off x="572" y="1747"/>
              <a:ext cx="816" cy="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sp>
          <p:nvSpPr>
            <p:cNvPr id="131" name="Google Shape;131;p16"/>
            <p:cNvSpPr/>
            <p:nvPr/>
          </p:nvSpPr>
          <p:spPr>
            <a:xfrm>
              <a:off x="392" y="1416"/>
              <a:ext cx="216" cy="216"/>
            </a:xfrm>
            <a:prstGeom prst="ellipse">
              <a:avLst/>
            </a:prstGeom>
            <a:solidFill>
              <a:srgbClr val="C0C0C0">
                <a:alpha val="70196"/>
              </a:srgbClr>
            </a:solidFill>
            <a:ln cap="flat" cmpd="sng" w="952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822" y="1390"/>
              <a:ext cx="216" cy="216"/>
            </a:xfrm>
            <a:prstGeom prst="ellipse">
              <a:avLst/>
            </a:prstGeom>
            <a:solidFill>
              <a:srgbClr val="C0C0C0">
                <a:alpha val="70196"/>
              </a:srgbClr>
            </a:solidFill>
            <a:ln cap="flat" cmpd="sng" w="952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746" y="1747"/>
              <a:ext cx="216" cy="216"/>
            </a:xfrm>
            <a:prstGeom prst="ellipse">
              <a:avLst/>
            </a:prstGeom>
            <a:solidFill>
              <a:srgbClr val="C0C0C0">
                <a:alpha val="70196"/>
              </a:srgbClr>
            </a:solidFill>
            <a:ln cap="flat" cmpd="sng" w="952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509" y="1639"/>
              <a:ext cx="216" cy="216"/>
            </a:xfrm>
            <a:prstGeom prst="ellipse">
              <a:avLst/>
            </a:prstGeom>
            <a:solidFill>
              <a:srgbClr val="C0C0C0">
                <a:alpha val="70196"/>
              </a:srgbClr>
            </a:solidFill>
            <a:ln cap="flat" cmpd="sng" w="952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624" y="1552"/>
              <a:ext cx="216" cy="215"/>
            </a:xfrm>
            <a:prstGeom prst="ellipse">
              <a:avLst/>
            </a:prstGeom>
            <a:solidFill>
              <a:srgbClr val="80808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6"/>
          <p:cNvSpPr txBox="1"/>
          <p:nvPr/>
        </p:nvSpPr>
        <p:spPr>
          <a:xfrm>
            <a:off x="971983" y="3652838"/>
            <a:ext cx="418492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at 	(000) (1/2,1/2,0) (1/2,0,1/2) (0,1/2,1/2)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Units are in nm</a:t>
            </a:r>
            <a:endParaRPr/>
          </a:p>
        </p:txBody>
      </p:sp>
      <p:grpSp>
        <p:nvGrpSpPr>
          <p:cNvPr id="137" name="Google Shape;137;p16"/>
          <p:cNvGrpSpPr/>
          <p:nvPr/>
        </p:nvGrpSpPr>
        <p:grpSpPr>
          <a:xfrm>
            <a:off x="6282130" y="1407517"/>
            <a:ext cx="2268537" cy="1952625"/>
            <a:chOff x="2939" y="1066"/>
            <a:chExt cx="1429" cy="1230"/>
          </a:xfrm>
        </p:grpSpPr>
        <p:sp>
          <p:nvSpPr>
            <p:cNvPr id="138" name="Google Shape;138;p16"/>
            <p:cNvSpPr/>
            <p:nvPr/>
          </p:nvSpPr>
          <p:spPr>
            <a:xfrm>
              <a:off x="3312" y="1066"/>
              <a:ext cx="1056" cy="915"/>
            </a:xfrm>
            <a:prstGeom prst="cube">
              <a:avLst>
                <a:gd fmla="val 25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6"/>
            <p:cNvCxnSpPr/>
            <p:nvPr/>
          </p:nvCxnSpPr>
          <p:spPr>
            <a:xfrm>
              <a:off x="3560" y="1066"/>
              <a:ext cx="0" cy="6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16"/>
            <p:cNvCxnSpPr/>
            <p:nvPr/>
          </p:nvCxnSpPr>
          <p:spPr>
            <a:xfrm rot="10800000">
              <a:off x="3546" y="1747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6"/>
            <p:cNvCxnSpPr/>
            <p:nvPr/>
          </p:nvCxnSpPr>
          <p:spPr>
            <a:xfrm flipH="1">
              <a:off x="3306" y="1737"/>
              <a:ext cx="240" cy="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sp>
          <p:nvSpPr>
            <p:cNvPr id="142" name="Google Shape;142;p16"/>
            <p:cNvSpPr txBox="1"/>
            <p:nvPr/>
          </p:nvSpPr>
          <p:spPr>
            <a:xfrm>
              <a:off x="3398" y="1991"/>
              <a:ext cx="11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3" name="Google Shape;143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33" y="1970"/>
              <a:ext cx="396" cy="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89" y="1670"/>
              <a:ext cx="366" cy="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939" y="1513"/>
              <a:ext cx="415" cy="3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6" name="Google Shape;146;p16"/>
            <p:cNvCxnSpPr/>
            <p:nvPr/>
          </p:nvCxnSpPr>
          <p:spPr>
            <a:xfrm>
              <a:off x="3312" y="1970"/>
              <a:ext cx="816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" name="Google Shape;147;p16"/>
            <p:cNvCxnSpPr/>
            <p:nvPr/>
          </p:nvCxnSpPr>
          <p:spPr>
            <a:xfrm flipH="1" rot="10800000">
              <a:off x="3306" y="1737"/>
              <a:ext cx="254" cy="233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dashDot"/>
              <a:round/>
              <a:headEnd len="med" w="med" type="none"/>
              <a:tailEnd len="med" w="med" type="triangle"/>
            </a:ln>
          </p:spPr>
        </p:cxnSp>
        <p:cxnSp>
          <p:nvCxnSpPr>
            <p:cNvPr id="148" name="Google Shape;148;p16"/>
            <p:cNvCxnSpPr/>
            <p:nvPr/>
          </p:nvCxnSpPr>
          <p:spPr>
            <a:xfrm rot="10800000">
              <a:off x="3306" y="1242"/>
              <a:ext cx="6" cy="72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9" name="Google Shape;149;p16"/>
          <p:cNvSpPr txBox="1"/>
          <p:nvPr/>
        </p:nvSpPr>
        <p:spPr>
          <a:xfrm>
            <a:off x="6630988" y="394493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608" y="993798"/>
            <a:ext cx="2100263" cy="1036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45189" y="2117130"/>
            <a:ext cx="2128838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17407" y="3005162"/>
            <a:ext cx="2100262" cy="103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225203" y="4370365"/>
            <a:ext cx="51355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There is no basis in reciprocal space</a:t>
            </a:r>
            <a:endParaRPr/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333316" y="63721"/>
            <a:ext cx="10515600" cy="635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Real and Reciprocal Space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213957" y="5448624"/>
            <a:ext cx="26226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Units are in nm</a:t>
            </a:r>
            <a:r>
              <a:rPr baseline="30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962919" y="1116775"/>
            <a:ext cx="1036474" cy="78624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0996579" y="2126986"/>
            <a:ext cx="972929" cy="7861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996579" y="3081515"/>
            <a:ext cx="972929" cy="786177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527301" y="6223453"/>
            <a:ext cx="7004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real and reciprocal space lattices are periodic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17"/>
          <p:cNvCxnSpPr/>
          <p:nvPr/>
        </p:nvCxnSpPr>
        <p:spPr>
          <a:xfrm>
            <a:off x="5455396" y="1201697"/>
            <a:ext cx="24902" cy="356540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7"/>
          <p:cNvSpPr txBox="1"/>
          <p:nvPr>
            <p:ph type="title"/>
          </p:nvPr>
        </p:nvSpPr>
        <p:spPr>
          <a:xfrm>
            <a:off x="838200" y="365125"/>
            <a:ext cx="10515600" cy="6726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909" l="-1507" r="0" t="-727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lay"/>
              <a:buNone/>
            </a:pPr>
            <a:r>
              <a:rPr lang="en-US"/>
              <a:t> </a:t>
            </a:r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4063996" y="3389730"/>
            <a:ext cx="2729552" cy="2800434"/>
            <a:chOff x="2497139" y="3970338"/>
            <a:chExt cx="1252536" cy="1219199"/>
          </a:xfrm>
        </p:grpSpPr>
        <p:sp>
          <p:nvSpPr>
            <p:cNvPr id="167" name="Google Shape;167;p17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17"/>
          <p:cNvSpPr/>
          <p:nvPr/>
        </p:nvSpPr>
        <p:spPr>
          <a:xfrm>
            <a:off x="5459296" y="4708376"/>
            <a:ext cx="57146" cy="5718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 flipH="1" rot="-6200385">
            <a:off x="4704104" y="-2387032"/>
            <a:ext cx="3473150" cy="11455143"/>
          </a:xfrm>
          <a:custGeom>
            <a:rect b="b" l="l" r="r" t="t"/>
            <a:pathLst>
              <a:path extrusionOk="0" fill="none" h="20380" w="21244">
                <a:moveTo>
                  <a:pt x="7157" y="0"/>
                </a:moveTo>
                <a:cubicBezTo>
                  <a:pt x="14467" y="2567"/>
                  <a:pt x="19842" y="8853"/>
                  <a:pt x="21243" y="16473"/>
                </a:cubicBezTo>
              </a:path>
              <a:path extrusionOk="0" h="20380" w="21244">
                <a:moveTo>
                  <a:pt x="7157" y="0"/>
                </a:moveTo>
                <a:cubicBezTo>
                  <a:pt x="14467" y="2567"/>
                  <a:pt x="19842" y="8853"/>
                  <a:pt x="21243" y="16473"/>
                </a:cubicBezTo>
                <a:lnTo>
                  <a:pt x="0" y="20380"/>
                </a:lnTo>
                <a:lnTo>
                  <a:pt x="7157" y="0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0277025" y="3994728"/>
            <a:ext cx="1985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Incident wave (plane wave)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953540" y="5416334"/>
            <a:ext cx="1985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Scattered wave (spherical wave)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8"/>
          <p:cNvGrpSpPr/>
          <p:nvPr/>
        </p:nvGrpSpPr>
        <p:grpSpPr>
          <a:xfrm>
            <a:off x="3023890" y="2328429"/>
            <a:ext cx="5905500" cy="1339850"/>
            <a:chOff x="1114" y="3062"/>
            <a:chExt cx="3720" cy="844"/>
          </a:xfrm>
        </p:grpSpPr>
        <p:grpSp>
          <p:nvGrpSpPr>
            <p:cNvPr id="183" name="Google Shape;183;p18"/>
            <p:cNvGrpSpPr/>
            <p:nvPr/>
          </p:nvGrpSpPr>
          <p:grpSpPr>
            <a:xfrm>
              <a:off x="3060" y="3224"/>
              <a:ext cx="1774" cy="681"/>
              <a:chOff x="516" y="2112"/>
              <a:chExt cx="4731" cy="1815"/>
            </a:xfrm>
          </p:grpSpPr>
          <p:grpSp>
            <p:nvGrpSpPr>
              <p:cNvPr id="184" name="Google Shape;184;p18"/>
              <p:cNvGrpSpPr/>
              <p:nvPr/>
            </p:nvGrpSpPr>
            <p:grpSpPr>
              <a:xfrm>
                <a:off x="519" y="3264"/>
                <a:ext cx="4713" cy="96"/>
                <a:chOff x="519" y="3264"/>
                <a:chExt cx="4713" cy="96"/>
              </a:xfrm>
            </p:grpSpPr>
            <p:sp>
              <p:nvSpPr>
                <p:cNvPr id="185" name="Google Shape;185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88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" name="Google Shape;189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" name="Google Shape;190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" name="Google Shape;191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4" name="Google Shape;194;p18"/>
              <p:cNvGrpSpPr/>
              <p:nvPr/>
            </p:nvGrpSpPr>
            <p:grpSpPr>
              <a:xfrm>
                <a:off x="516" y="3831"/>
                <a:ext cx="4713" cy="96"/>
                <a:chOff x="519" y="3264"/>
                <a:chExt cx="4713" cy="96"/>
              </a:xfrm>
            </p:grpSpPr>
            <p:sp>
              <p:nvSpPr>
                <p:cNvPr id="195" name="Google Shape;195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4" name="Google Shape;204;p18"/>
              <p:cNvGrpSpPr/>
              <p:nvPr/>
            </p:nvGrpSpPr>
            <p:grpSpPr>
              <a:xfrm>
                <a:off x="525" y="2682"/>
                <a:ext cx="4713" cy="96"/>
                <a:chOff x="519" y="3264"/>
                <a:chExt cx="4713" cy="96"/>
              </a:xfrm>
            </p:grpSpPr>
            <p:sp>
              <p:nvSpPr>
                <p:cNvPr id="205" name="Google Shape;205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" name="Google Shape;206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4" name="Google Shape;214;p18"/>
              <p:cNvGrpSpPr/>
              <p:nvPr/>
            </p:nvGrpSpPr>
            <p:grpSpPr>
              <a:xfrm>
                <a:off x="534" y="2112"/>
                <a:ext cx="4713" cy="96"/>
                <a:chOff x="519" y="3264"/>
                <a:chExt cx="4713" cy="96"/>
              </a:xfrm>
            </p:grpSpPr>
            <p:sp>
              <p:nvSpPr>
                <p:cNvPr id="215" name="Google Shape;215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" name="Google Shape;219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" name="Google Shape;220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" name="Google Shape;222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24" name="Google Shape;224;p18"/>
            <p:cNvSpPr txBox="1"/>
            <p:nvPr/>
          </p:nvSpPr>
          <p:spPr>
            <a:xfrm>
              <a:off x="2831" y="3062"/>
              <a:ext cx="11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" name="Google Shape;225;p18"/>
            <p:cNvGrpSpPr/>
            <p:nvPr/>
          </p:nvGrpSpPr>
          <p:grpSpPr>
            <a:xfrm>
              <a:off x="1114" y="3225"/>
              <a:ext cx="1774" cy="681"/>
              <a:chOff x="516" y="2112"/>
              <a:chExt cx="4731" cy="1815"/>
            </a:xfrm>
          </p:grpSpPr>
          <p:grpSp>
            <p:nvGrpSpPr>
              <p:cNvPr id="226" name="Google Shape;226;p18"/>
              <p:cNvGrpSpPr/>
              <p:nvPr/>
            </p:nvGrpSpPr>
            <p:grpSpPr>
              <a:xfrm>
                <a:off x="519" y="3264"/>
                <a:ext cx="4713" cy="96"/>
                <a:chOff x="519" y="3264"/>
                <a:chExt cx="4713" cy="96"/>
              </a:xfrm>
            </p:grpSpPr>
            <p:sp>
              <p:nvSpPr>
                <p:cNvPr id="227" name="Google Shape;227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6" name="Google Shape;236;p18"/>
              <p:cNvGrpSpPr/>
              <p:nvPr/>
            </p:nvGrpSpPr>
            <p:grpSpPr>
              <a:xfrm>
                <a:off x="516" y="3831"/>
                <a:ext cx="4713" cy="96"/>
                <a:chOff x="519" y="3264"/>
                <a:chExt cx="4713" cy="96"/>
              </a:xfrm>
            </p:grpSpPr>
            <p:sp>
              <p:nvSpPr>
                <p:cNvPr id="237" name="Google Shape;237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" name="Google Shape;242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" name="Google Shape;243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6" name="Google Shape;246;p18"/>
              <p:cNvGrpSpPr/>
              <p:nvPr/>
            </p:nvGrpSpPr>
            <p:grpSpPr>
              <a:xfrm>
                <a:off x="525" y="2682"/>
                <a:ext cx="4713" cy="96"/>
                <a:chOff x="519" y="3264"/>
                <a:chExt cx="4713" cy="96"/>
              </a:xfrm>
            </p:grpSpPr>
            <p:sp>
              <p:nvSpPr>
                <p:cNvPr id="247" name="Google Shape;247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6" name="Google Shape;256;p18"/>
              <p:cNvGrpSpPr/>
              <p:nvPr/>
            </p:nvGrpSpPr>
            <p:grpSpPr>
              <a:xfrm>
                <a:off x="534" y="2112"/>
                <a:ext cx="4713" cy="96"/>
                <a:chOff x="519" y="3264"/>
                <a:chExt cx="4713" cy="96"/>
              </a:xfrm>
            </p:grpSpPr>
            <p:sp>
              <p:nvSpPr>
                <p:cNvPr id="257" name="Google Shape;257;p18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18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8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8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8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8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8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8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18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6" name="Google Shape;266;p18"/>
          <p:cNvSpPr/>
          <p:nvPr/>
        </p:nvSpPr>
        <p:spPr>
          <a:xfrm flipH="1" rot="-6100534">
            <a:off x="5954305" y="-3295654"/>
            <a:ext cx="2963174" cy="11455143"/>
          </a:xfrm>
          <a:custGeom>
            <a:rect b="b" l="l" r="r" t="t"/>
            <a:pathLst>
              <a:path extrusionOk="0" fill="none" h="20380" w="21244">
                <a:moveTo>
                  <a:pt x="7157" y="0"/>
                </a:moveTo>
                <a:cubicBezTo>
                  <a:pt x="14467" y="2567"/>
                  <a:pt x="19842" y="8853"/>
                  <a:pt x="21243" y="16473"/>
                </a:cubicBezTo>
              </a:path>
              <a:path extrusionOk="0" h="20380" w="21244">
                <a:moveTo>
                  <a:pt x="7157" y="0"/>
                </a:moveTo>
                <a:cubicBezTo>
                  <a:pt x="14467" y="2567"/>
                  <a:pt x="19842" y="8853"/>
                  <a:pt x="21243" y="16473"/>
                </a:cubicBezTo>
                <a:lnTo>
                  <a:pt x="0" y="20380"/>
                </a:lnTo>
                <a:lnTo>
                  <a:pt x="7157" y="0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8"/>
          <p:cNvGrpSpPr/>
          <p:nvPr/>
        </p:nvGrpSpPr>
        <p:grpSpPr>
          <a:xfrm>
            <a:off x="3041007" y="2295681"/>
            <a:ext cx="2729552" cy="2800434"/>
            <a:chOff x="2497139" y="3970338"/>
            <a:chExt cx="1252536" cy="1219199"/>
          </a:xfrm>
        </p:grpSpPr>
        <p:sp>
          <p:nvSpPr>
            <p:cNvPr id="268" name="Google Shape;268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18"/>
          <p:cNvGrpSpPr/>
          <p:nvPr/>
        </p:nvGrpSpPr>
        <p:grpSpPr>
          <a:xfrm>
            <a:off x="3348971" y="2348968"/>
            <a:ext cx="2729552" cy="2800434"/>
            <a:chOff x="2497139" y="3970338"/>
            <a:chExt cx="1252536" cy="1219199"/>
          </a:xfrm>
        </p:grpSpPr>
        <p:sp>
          <p:nvSpPr>
            <p:cNvPr id="276" name="Google Shape;276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18"/>
          <p:cNvGrpSpPr/>
          <p:nvPr/>
        </p:nvGrpSpPr>
        <p:grpSpPr>
          <a:xfrm>
            <a:off x="3700640" y="2323125"/>
            <a:ext cx="2729552" cy="2800434"/>
            <a:chOff x="2497139" y="3970338"/>
            <a:chExt cx="1252536" cy="1219199"/>
          </a:xfrm>
        </p:grpSpPr>
        <p:sp>
          <p:nvSpPr>
            <p:cNvPr id="284" name="Google Shape;284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18"/>
          <p:cNvGrpSpPr/>
          <p:nvPr/>
        </p:nvGrpSpPr>
        <p:grpSpPr>
          <a:xfrm>
            <a:off x="4041561" y="2316220"/>
            <a:ext cx="2729552" cy="2800434"/>
            <a:chOff x="2497139" y="3970338"/>
            <a:chExt cx="1252536" cy="1219199"/>
          </a:xfrm>
        </p:grpSpPr>
        <p:sp>
          <p:nvSpPr>
            <p:cNvPr id="292" name="Google Shape;292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4408022" y="2333565"/>
            <a:ext cx="2729552" cy="2800434"/>
            <a:chOff x="2497139" y="3970338"/>
            <a:chExt cx="1252536" cy="1219199"/>
          </a:xfrm>
        </p:grpSpPr>
        <p:sp>
          <p:nvSpPr>
            <p:cNvPr id="300" name="Google Shape;300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p18"/>
          <p:cNvGrpSpPr/>
          <p:nvPr/>
        </p:nvGrpSpPr>
        <p:grpSpPr>
          <a:xfrm>
            <a:off x="4718264" y="2357832"/>
            <a:ext cx="2729552" cy="2800434"/>
            <a:chOff x="2497139" y="3970338"/>
            <a:chExt cx="1252536" cy="1219199"/>
          </a:xfrm>
        </p:grpSpPr>
        <p:sp>
          <p:nvSpPr>
            <p:cNvPr id="308" name="Google Shape;308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18"/>
          <p:cNvGrpSpPr/>
          <p:nvPr/>
        </p:nvGrpSpPr>
        <p:grpSpPr>
          <a:xfrm>
            <a:off x="5048861" y="2347392"/>
            <a:ext cx="2729552" cy="2800434"/>
            <a:chOff x="2497139" y="3970338"/>
            <a:chExt cx="1252536" cy="1219199"/>
          </a:xfrm>
        </p:grpSpPr>
        <p:sp>
          <p:nvSpPr>
            <p:cNvPr id="316" name="Google Shape;316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18"/>
          <p:cNvGrpSpPr/>
          <p:nvPr/>
        </p:nvGrpSpPr>
        <p:grpSpPr>
          <a:xfrm>
            <a:off x="5447514" y="2331303"/>
            <a:ext cx="2729552" cy="2800434"/>
            <a:chOff x="2497139" y="3970338"/>
            <a:chExt cx="1252536" cy="1219199"/>
          </a:xfrm>
        </p:grpSpPr>
        <p:sp>
          <p:nvSpPr>
            <p:cNvPr id="324" name="Google Shape;324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18"/>
          <p:cNvGrpSpPr/>
          <p:nvPr/>
        </p:nvGrpSpPr>
        <p:grpSpPr>
          <a:xfrm>
            <a:off x="5759579" y="2321776"/>
            <a:ext cx="2729552" cy="2800434"/>
            <a:chOff x="2497139" y="3970338"/>
            <a:chExt cx="1252536" cy="1219199"/>
          </a:xfrm>
        </p:grpSpPr>
        <p:sp>
          <p:nvSpPr>
            <p:cNvPr id="332" name="Google Shape;332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18"/>
          <p:cNvGrpSpPr/>
          <p:nvPr/>
        </p:nvGrpSpPr>
        <p:grpSpPr>
          <a:xfrm>
            <a:off x="6139069" y="2332434"/>
            <a:ext cx="2729552" cy="2800434"/>
            <a:chOff x="2497139" y="3970338"/>
            <a:chExt cx="1252536" cy="1219199"/>
          </a:xfrm>
        </p:grpSpPr>
        <p:sp>
          <p:nvSpPr>
            <p:cNvPr id="340" name="Google Shape;340;p18"/>
            <p:cNvSpPr/>
            <p:nvPr/>
          </p:nvSpPr>
          <p:spPr>
            <a:xfrm>
              <a:off x="3042930" y="4448754"/>
              <a:ext cx="218398" cy="196344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8"/>
            <p:cNvSpPr/>
            <p:nvPr/>
          </p:nvSpPr>
          <p:spPr>
            <a:xfrm>
              <a:off x="2941127" y="4343400"/>
              <a:ext cx="416436" cy="422408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2846728" y="4268819"/>
              <a:ext cx="605233" cy="59200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2668588" y="4129084"/>
              <a:ext cx="919162" cy="9017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2762249" y="4195763"/>
              <a:ext cx="752475" cy="76676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2497139" y="3970338"/>
              <a:ext cx="1252536" cy="121919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2582824" y="4045525"/>
              <a:ext cx="1084933" cy="1059235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18"/>
          <p:cNvSpPr txBox="1"/>
          <p:nvPr/>
        </p:nvSpPr>
        <p:spPr>
          <a:xfrm>
            <a:off x="10366286" y="3188206"/>
            <a:ext cx="1985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Incident wave (plane wave)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8751936" y="4226120"/>
            <a:ext cx="19858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Scattered wave (interference of spherical waves)</a:t>
            </a:r>
            <a:endParaRPr/>
          </a:p>
        </p:txBody>
      </p:sp>
      <p:sp>
        <p:nvSpPr>
          <p:cNvPr id="349" name="Google Shape;349;p18"/>
          <p:cNvSpPr txBox="1"/>
          <p:nvPr>
            <p:ph type="title"/>
          </p:nvPr>
        </p:nvSpPr>
        <p:spPr>
          <a:xfrm>
            <a:off x="838200" y="365126"/>
            <a:ext cx="10515600" cy="565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Scattering of electrons by the potential of a crystal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5764" y="423680"/>
            <a:ext cx="5913633" cy="463945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9"/>
          <p:cNvSpPr txBox="1"/>
          <p:nvPr/>
        </p:nvSpPr>
        <p:spPr>
          <a:xfrm>
            <a:off x="2227880" y="5003337"/>
            <a:ext cx="8918823" cy="13159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46" r="0" t="-37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6" name="Google Shape;356;p19"/>
          <p:cNvSpPr txBox="1"/>
          <p:nvPr>
            <p:ph type="title"/>
          </p:nvPr>
        </p:nvSpPr>
        <p:spPr>
          <a:xfrm>
            <a:off x="556145" y="175208"/>
            <a:ext cx="10515600" cy="64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Bragg’s Law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7769594" y="3837115"/>
            <a:ext cx="34275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d: interplanar distance between atomic planes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2" name="Google Shape;362;p20"/>
          <p:cNvCxnSpPr/>
          <p:nvPr/>
        </p:nvCxnSpPr>
        <p:spPr>
          <a:xfrm>
            <a:off x="5704726" y="591071"/>
            <a:ext cx="34925" cy="500062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20"/>
          <p:cNvSpPr/>
          <p:nvPr/>
        </p:nvSpPr>
        <p:spPr>
          <a:xfrm flipH="1" rot="-6182135">
            <a:off x="5418238" y="-1570176"/>
            <a:ext cx="3473150" cy="11455143"/>
          </a:xfrm>
          <a:custGeom>
            <a:rect b="b" l="l" r="r" t="t"/>
            <a:pathLst>
              <a:path extrusionOk="0" fill="none" h="20380" w="21244">
                <a:moveTo>
                  <a:pt x="7157" y="0"/>
                </a:moveTo>
                <a:cubicBezTo>
                  <a:pt x="14467" y="2567"/>
                  <a:pt x="19842" y="8853"/>
                  <a:pt x="21243" y="16473"/>
                </a:cubicBezTo>
              </a:path>
              <a:path extrusionOk="0" h="20380" w="21244">
                <a:moveTo>
                  <a:pt x="7157" y="0"/>
                </a:moveTo>
                <a:cubicBezTo>
                  <a:pt x="14467" y="2567"/>
                  <a:pt x="19842" y="8853"/>
                  <a:pt x="21243" y="16473"/>
                </a:cubicBezTo>
                <a:lnTo>
                  <a:pt x="0" y="20380"/>
                </a:lnTo>
                <a:lnTo>
                  <a:pt x="7157" y="0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68565" y="129406"/>
            <a:ext cx="45296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Bragg’s Law in reciprocal space</a:t>
            </a:r>
            <a:endParaRPr/>
          </a:p>
        </p:txBody>
      </p:sp>
      <p:cxnSp>
        <p:nvCxnSpPr>
          <p:cNvPr id="365" name="Google Shape;365;p20"/>
          <p:cNvCxnSpPr/>
          <p:nvPr/>
        </p:nvCxnSpPr>
        <p:spPr>
          <a:xfrm>
            <a:off x="5704726" y="5591696"/>
            <a:ext cx="7000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20"/>
          <p:cNvSpPr txBox="1"/>
          <p:nvPr/>
        </p:nvSpPr>
        <p:spPr>
          <a:xfrm>
            <a:off x="5797550" y="5684318"/>
            <a:ext cx="596900" cy="7350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061" r="-22449" t="-132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6394450" y="1348307"/>
            <a:ext cx="5666654" cy="28244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7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556316" y="945082"/>
            <a:ext cx="4402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constructive interference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366479" y="1806834"/>
            <a:ext cx="392286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electrons λ~0.002 nm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Sphere of radius k=1/λ=500 nm</a:t>
            </a:r>
            <a:r>
              <a:rPr b="0" baseline="30000" i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Reciprocal lattice ~3 nm</a:t>
            </a:r>
            <a:r>
              <a:rPr b="0" baseline="30000" i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20"/>
          <p:cNvGrpSpPr/>
          <p:nvPr/>
        </p:nvGrpSpPr>
        <p:grpSpPr>
          <a:xfrm>
            <a:off x="2944062" y="4232795"/>
            <a:ext cx="5905500" cy="1339850"/>
            <a:chOff x="1114" y="3062"/>
            <a:chExt cx="3720" cy="844"/>
          </a:xfrm>
        </p:grpSpPr>
        <p:grpSp>
          <p:nvGrpSpPr>
            <p:cNvPr id="371" name="Google Shape;371;p20"/>
            <p:cNvGrpSpPr/>
            <p:nvPr/>
          </p:nvGrpSpPr>
          <p:grpSpPr>
            <a:xfrm>
              <a:off x="3060" y="3224"/>
              <a:ext cx="1774" cy="681"/>
              <a:chOff x="516" y="2112"/>
              <a:chExt cx="4731" cy="1815"/>
            </a:xfrm>
          </p:grpSpPr>
          <p:grpSp>
            <p:nvGrpSpPr>
              <p:cNvPr id="372" name="Google Shape;372;p20"/>
              <p:cNvGrpSpPr/>
              <p:nvPr/>
            </p:nvGrpSpPr>
            <p:grpSpPr>
              <a:xfrm>
                <a:off x="519" y="3264"/>
                <a:ext cx="4713" cy="96"/>
                <a:chOff x="519" y="3264"/>
                <a:chExt cx="4713" cy="96"/>
              </a:xfrm>
            </p:grpSpPr>
            <p:sp>
              <p:nvSpPr>
                <p:cNvPr id="373" name="Google Shape;373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" name="Google Shape;374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" name="Google Shape;377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" name="Google Shape;379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" name="Google Shape;380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2" name="Google Shape;382;p20"/>
              <p:cNvGrpSpPr/>
              <p:nvPr/>
            </p:nvGrpSpPr>
            <p:grpSpPr>
              <a:xfrm>
                <a:off x="516" y="3831"/>
                <a:ext cx="4713" cy="96"/>
                <a:chOff x="519" y="3264"/>
                <a:chExt cx="4713" cy="96"/>
              </a:xfrm>
            </p:grpSpPr>
            <p:sp>
              <p:nvSpPr>
                <p:cNvPr id="383" name="Google Shape;383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" name="Google Shape;385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" name="Google Shape;386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" name="Google Shape;388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" name="Google Shape;389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" name="Google Shape;390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" name="Google Shape;392;p20"/>
              <p:cNvGrpSpPr/>
              <p:nvPr/>
            </p:nvGrpSpPr>
            <p:grpSpPr>
              <a:xfrm>
                <a:off x="525" y="2682"/>
                <a:ext cx="4713" cy="96"/>
                <a:chOff x="519" y="3264"/>
                <a:chExt cx="4713" cy="96"/>
              </a:xfrm>
            </p:grpSpPr>
            <p:sp>
              <p:nvSpPr>
                <p:cNvPr id="393" name="Google Shape;393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2" name="Google Shape;402;p20"/>
              <p:cNvGrpSpPr/>
              <p:nvPr/>
            </p:nvGrpSpPr>
            <p:grpSpPr>
              <a:xfrm>
                <a:off x="534" y="2112"/>
                <a:ext cx="4713" cy="96"/>
                <a:chOff x="519" y="3264"/>
                <a:chExt cx="4713" cy="96"/>
              </a:xfrm>
            </p:grpSpPr>
            <p:sp>
              <p:nvSpPr>
                <p:cNvPr id="403" name="Google Shape;403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" name="Google Shape;407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" name="Google Shape;410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12" name="Google Shape;412;p20"/>
            <p:cNvSpPr txBox="1"/>
            <p:nvPr/>
          </p:nvSpPr>
          <p:spPr>
            <a:xfrm>
              <a:off x="2831" y="3062"/>
              <a:ext cx="11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3" name="Google Shape;413;p20"/>
            <p:cNvGrpSpPr/>
            <p:nvPr/>
          </p:nvGrpSpPr>
          <p:grpSpPr>
            <a:xfrm>
              <a:off x="1114" y="3225"/>
              <a:ext cx="1774" cy="681"/>
              <a:chOff x="516" y="2112"/>
              <a:chExt cx="4731" cy="1815"/>
            </a:xfrm>
          </p:grpSpPr>
          <p:grpSp>
            <p:nvGrpSpPr>
              <p:cNvPr id="414" name="Google Shape;414;p20"/>
              <p:cNvGrpSpPr/>
              <p:nvPr/>
            </p:nvGrpSpPr>
            <p:grpSpPr>
              <a:xfrm>
                <a:off x="519" y="3264"/>
                <a:ext cx="4713" cy="96"/>
                <a:chOff x="519" y="3264"/>
                <a:chExt cx="4713" cy="96"/>
              </a:xfrm>
            </p:grpSpPr>
            <p:sp>
              <p:nvSpPr>
                <p:cNvPr id="415" name="Google Shape;415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" name="Google Shape;417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" name="Google Shape;418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9" name="Google Shape;419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" name="Google Shape;421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4" name="Google Shape;424;p20"/>
              <p:cNvGrpSpPr/>
              <p:nvPr/>
            </p:nvGrpSpPr>
            <p:grpSpPr>
              <a:xfrm>
                <a:off x="516" y="3831"/>
                <a:ext cx="4713" cy="96"/>
                <a:chOff x="519" y="3264"/>
                <a:chExt cx="4713" cy="96"/>
              </a:xfrm>
            </p:grpSpPr>
            <p:sp>
              <p:nvSpPr>
                <p:cNvPr id="425" name="Google Shape;425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" name="Google Shape;428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4" name="Google Shape;434;p20"/>
              <p:cNvGrpSpPr/>
              <p:nvPr/>
            </p:nvGrpSpPr>
            <p:grpSpPr>
              <a:xfrm>
                <a:off x="525" y="2682"/>
                <a:ext cx="4713" cy="96"/>
                <a:chOff x="519" y="3264"/>
                <a:chExt cx="4713" cy="96"/>
              </a:xfrm>
            </p:grpSpPr>
            <p:sp>
              <p:nvSpPr>
                <p:cNvPr id="435" name="Google Shape;435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9" name="Google Shape;439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0" name="Google Shape;440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" name="Google Shape;442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4" name="Google Shape;444;p20"/>
              <p:cNvGrpSpPr/>
              <p:nvPr/>
            </p:nvGrpSpPr>
            <p:grpSpPr>
              <a:xfrm>
                <a:off x="534" y="2112"/>
                <a:ext cx="4713" cy="96"/>
                <a:chOff x="519" y="3264"/>
                <a:chExt cx="4713" cy="96"/>
              </a:xfrm>
            </p:grpSpPr>
            <p:sp>
              <p:nvSpPr>
                <p:cNvPr id="445" name="Google Shape;445;p20"/>
                <p:cNvSpPr/>
                <p:nvPr/>
              </p:nvSpPr>
              <p:spPr>
                <a:xfrm>
                  <a:off x="519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20"/>
                <p:cNvSpPr/>
                <p:nvPr/>
              </p:nvSpPr>
              <p:spPr>
                <a:xfrm>
                  <a:off x="1095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20"/>
                <p:cNvSpPr/>
                <p:nvPr/>
              </p:nvSpPr>
              <p:spPr>
                <a:xfrm>
                  <a:off x="168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20"/>
                <p:cNvSpPr/>
                <p:nvPr/>
              </p:nvSpPr>
              <p:spPr>
                <a:xfrm>
                  <a:off x="22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20"/>
                <p:cNvSpPr/>
                <p:nvPr/>
              </p:nvSpPr>
              <p:spPr>
                <a:xfrm>
                  <a:off x="2832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20"/>
                <p:cNvSpPr/>
                <p:nvPr/>
              </p:nvSpPr>
              <p:spPr>
                <a:xfrm>
                  <a:off x="345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20"/>
                <p:cNvSpPr/>
                <p:nvPr/>
              </p:nvSpPr>
              <p:spPr>
                <a:xfrm>
                  <a:off x="5136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20"/>
                <p:cNvSpPr/>
                <p:nvPr/>
              </p:nvSpPr>
              <p:spPr>
                <a:xfrm>
                  <a:off x="4560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20"/>
                <p:cNvSpPr/>
                <p:nvPr/>
              </p:nvSpPr>
              <p:spPr>
                <a:xfrm>
                  <a:off x="3984" y="326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i="1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"/>
          <p:cNvSpPr txBox="1"/>
          <p:nvPr>
            <p:ph type="title"/>
          </p:nvPr>
        </p:nvSpPr>
        <p:spPr>
          <a:xfrm>
            <a:off x="965662" y="419273"/>
            <a:ext cx="10515600" cy="478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Diffraction from Quantum Mechanics</a:t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4016628" y="1778312"/>
            <a:ext cx="3059299" cy="8917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60" name="Google Shape;460;p21"/>
          <p:cNvSpPr txBox="1"/>
          <p:nvPr/>
        </p:nvSpPr>
        <p:spPr>
          <a:xfrm>
            <a:off x="4313948" y="3550568"/>
            <a:ext cx="2049472" cy="6722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61" name="Google Shape;461;p21"/>
          <p:cNvSpPr txBox="1"/>
          <p:nvPr/>
        </p:nvSpPr>
        <p:spPr>
          <a:xfrm>
            <a:off x="4162484" y="5239567"/>
            <a:ext cx="2846357" cy="72654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62" name="Google Shape;462;p21"/>
          <p:cNvSpPr txBox="1"/>
          <p:nvPr/>
        </p:nvSpPr>
        <p:spPr>
          <a:xfrm>
            <a:off x="8167891" y="600250"/>
            <a:ext cx="3427598" cy="547816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601" r="-2313" t="-7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 txBox="1"/>
          <p:nvPr>
            <p:ph type="title"/>
          </p:nvPr>
        </p:nvSpPr>
        <p:spPr>
          <a:xfrm>
            <a:off x="838200" y="365126"/>
            <a:ext cx="10515600" cy="63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Examples</a:t>
            </a:r>
            <a:endParaRPr/>
          </a:p>
        </p:txBody>
      </p:sp>
      <p:grpSp>
        <p:nvGrpSpPr>
          <p:cNvPr id="468" name="Google Shape;468;p22"/>
          <p:cNvGrpSpPr/>
          <p:nvPr/>
        </p:nvGrpSpPr>
        <p:grpSpPr>
          <a:xfrm>
            <a:off x="631339" y="1004158"/>
            <a:ext cx="4207362" cy="2804908"/>
            <a:chOff x="721096" y="1480991"/>
            <a:chExt cx="4207362" cy="2804908"/>
          </a:xfrm>
        </p:grpSpPr>
        <p:pic>
          <p:nvPicPr>
            <p:cNvPr id="469" name="Google Shape;46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1096" y="1480991"/>
              <a:ext cx="4207362" cy="280490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0" name="Google Shape;470;p22"/>
            <p:cNvCxnSpPr/>
            <p:nvPr/>
          </p:nvCxnSpPr>
          <p:spPr>
            <a:xfrm>
              <a:off x="2429050" y="2165389"/>
              <a:ext cx="583421" cy="1481478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471" name="Google Shape;471;p22"/>
            <p:cNvSpPr txBox="1"/>
            <p:nvPr/>
          </p:nvSpPr>
          <p:spPr>
            <a:xfrm>
              <a:off x="1309892" y="1986333"/>
              <a:ext cx="13070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9.81 nm-1</a:t>
              </a:r>
              <a:endParaRPr/>
            </a:p>
          </p:txBody>
        </p:sp>
        <p:cxnSp>
          <p:nvCxnSpPr>
            <p:cNvPr id="472" name="Google Shape;472;p22"/>
            <p:cNvCxnSpPr/>
            <p:nvPr/>
          </p:nvCxnSpPr>
          <p:spPr>
            <a:xfrm flipH="1" rot="10800000">
              <a:off x="1963436" y="2608564"/>
              <a:ext cx="1531479" cy="589031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473" name="Google Shape;473;p22"/>
            <p:cNvSpPr txBox="1"/>
            <p:nvPr/>
          </p:nvSpPr>
          <p:spPr>
            <a:xfrm>
              <a:off x="3216440" y="2636495"/>
              <a:ext cx="13070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9.86 nm-1</a:t>
              </a:r>
              <a:endParaRPr/>
            </a:p>
          </p:txBody>
        </p:sp>
        <p:sp>
          <p:nvSpPr>
            <p:cNvPr id="474" name="Google Shape;474;p22"/>
            <p:cNvSpPr/>
            <p:nvPr/>
          </p:nvSpPr>
          <p:spPr>
            <a:xfrm rot="1029360">
              <a:off x="2395797" y="2450402"/>
              <a:ext cx="616767" cy="481483"/>
            </a:xfrm>
            <a:prstGeom prst="arc">
              <a:avLst>
                <a:gd fmla="val 13417306" name="adj1"/>
                <a:gd fmla="val 0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2"/>
            <p:cNvSpPr txBox="1"/>
            <p:nvPr/>
          </p:nvSpPr>
          <p:spPr>
            <a:xfrm>
              <a:off x="2777602" y="2202165"/>
              <a:ext cx="8160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90°</a:t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76" name="Google Shape;4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339" y="4002601"/>
            <a:ext cx="10515600" cy="261663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2"/>
          <p:cNvSpPr txBox="1"/>
          <p:nvPr/>
        </p:nvSpPr>
        <p:spPr>
          <a:xfrm>
            <a:off x="5357374" y="920583"/>
            <a:ext cx="5480790" cy="288848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001" r="0" t="-84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"/>
          <p:cNvSpPr txBox="1"/>
          <p:nvPr>
            <p:ph type="title"/>
          </p:nvPr>
        </p:nvSpPr>
        <p:spPr>
          <a:xfrm>
            <a:off x="965662" y="419273"/>
            <a:ext cx="10515600" cy="478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Indexing Diffraction Patterns</a:t>
            </a:r>
            <a:endParaRPr/>
          </a:p>
        </p:txBody>
      </p:sp>
      <p:sp>
        <p:nvSpPr>
          <p:cNvPr id="483" name="Google Shape;483;p23"/>
          <p:cNvSpPr txBox="1"/>
          <p:nvPr/>
        </p:nvSpPr>
        <p:spPr>
          <a:xfrm>
            <a:off x="960052" y="897775"/>
            <a:ext cx="9923764" cy="53754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07" l="-491" r="0" t="-45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 txBox="1"/>
          <p:nvPr>
            <p:ph type="title"/>
          </p:nvPr>
        </p:nvSpPr>
        <p:spPr>
          <a:xfrm>
            <a:off x="724440" y="256917"/>
            <a:ext cx="10515600" cy="478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Analysis for Al DP</a:t>
            </a:r>
            <a:endParaRPr/>
          </a:p>
        </p:txBody>
      </p:sp>
      <p:grpSp>
        <p:nvGrpSpPr>
          <p:cNvPr id="489" name="Google Shape;489;p24"/>
          <p:cNvGrpSpPr/>
          <p:nvPr/>
        </p:nvGrpSpPr>
        <p:grpSpPr>
          <a:xfrm>
            <a:off x="636949" y="958566"/>
            <a:ext cx="3183336" cy="2053192"/>
            <a:chOff x="728511" y="1418707"/>
            <a:chExt cx="4207362" cy="2804908"/>
          </a:xfrm>
        </p:grpSpPr>
        <p:pic>
          <p:nvPicPr>
            <p:cNvPr id="490" name="Google Shape;49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8511" y="1418707"/>
              <a:ext cx="4207362" cy="280490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1" name="Google Shape;491;p24"/>
            <p:cNvCxnSpPr/>
            <p:nvPr/>
          </p:nvCxnSpPr>
          <p:spPr>
            <a:xfrm>
              <a:off x="2429050" y="2165389"/>
              <a:ext cx="583421" cy="1481478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492" name="Google Shape;492;p24"/>
            <p:cNvSpPr txBox="1"/>
            <p:nvPr/>
          </p:nvSpPr>
          <p:spPr>
            <a:xfrm>
              <a:off x="1012714" y="2037196"/>
              <a:ext cx="1587438" cy="50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9.81 nm-1</a:t>
              </a:r>
              <a:endParaRPr/>
            </a:p>
          </p:txBody>
        </p:sp>
        <p:cxnSp>
          <p:nvCxnSpPr>
            <p:cNvPr id="493" name="Google Shape;493;p24"/>
            <p:cNvCxnSpPr/>
            <p:nvPr/>
          </p:nvCxnSpPr>
          <p:spPr>
            <a:xfrm flipH="1" rot="10800000">
              <a:off x="1963436" y="2608564"/>
              <a:ext cx="1531479" cy="589031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med" w="med" type="triangle"/>
              <a:tailEnd len="med" w="med" type="triangle"/>
            </a:ln>
          </p:spPr>
        </p:cxnSp>
        <p:sp>
          <p:nvSpPr>
            <p:cNvPr id="494" name="Google Shape;494;p24"/>
            <p:cNvSpPr txBox="1"/>
            <p:nvPr/>
          </p:nvSpPr>
          <p:spPr>
            <a:xfrm>
              <a:off x="3216440" y="2636496"/>
              <a:ext cx="1606577" cy="50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9.86 nm-1</a:t>
              </a:r>
              <a:endParaRPr/>
            </a:p>
          </p:txBody>
        </p:sp>
        <p:sp>
          <p:nvSpPr>
            <p:cNvPr id="495" name="Google Shape;495;p24"/>
            <p:cNvSpPr/>
            <p:nvPr/>
          </p:nvSpPr>
          <p:spPr>
            <a:xfrm rot="1029360">
              <a:off x="2395797" y="2450402"/>
              <a:ext cx="616767" cy="481483"/>
            </a:xfrm>
            <a:prstGeom prst="arc">
              <a:avLst>
                <a:gd fmla="val 13417306" name="adj1"/>
                <a:gd fmla="val 0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4"/>
            <p:cNvSpPr txBox="1"/>
            <p:nvPr/>
          </p:nvSpPr>
          <p:spPr>
            <a:xfrm>
              <a:off x="2777602" y="2202165"/>
              <a:ext cx="8160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90°</a:t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97" name="Google Shape;497;p24"/>
          <p:cNvGraphicFramePr/>
          <p:nvPr/>
        </p:nvGraphicFramePr>
        <p:xfrm>
          <a:off x="4661441" y="7196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{C72E1F75-6616-445A-913D-CCCDF766C814}</a:tableStyleId>
              </a:tblPr>
              <a:tblGrid>
                <a:gridCol w="1509125"/>
                <a:gridCol w="1896350"/>
                <a:gridCol w="1527925"/>
                <a:gridCol w="1103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Dist in DP (nm</a:t>
                      </a:r>
                      <a:r>
                        <a:rPr baseline="30000" lang="en-US" sz="1800" u="none" cap="none" strike="noStrike"/>
                        <a:t>-1</a:t>
                      </a:r>
                      <a:r>
                        <a:rPr lang="en-US" sz="1800" u="none" cap="none" strike="noStrike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Exp.n Dist. Real space (nm)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Possible hkl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select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9.81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0.204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200, 020, 002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9.86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0.203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200, 020, 002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020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13.91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0.144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220, 022, etc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98" name="Google Shape;498;p24"/>
          <p:cNvGraphicFramePr/>
          <p:nvPr/>
        </p:nvGraphicFramePr>
        <p:xfrm>
          <a:off x="4728774" y="34154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{C72E1F75-6616-445A-913D-CCCDF766C814}</a:tableStyleId>
              </a:tblPr>
              <a:tblGrid>
                <a:gridCol w="2457100"/>
                <a:gridCol w="1441725"/>
                <a:gridCol w="2003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hkl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 d</a:t>
                      </a:r>
                      <a:r>
                        <a:rPr baseline="-25000" lang="en-US" sz="1800"/>
                        <a:t>hkl     </a:t>
                      </a:r>
                      <a:r>
                        <a:rPr lang="en-US" sz="1800"/>
                        <a:t>(nm)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 </a:t>
                      </a:r>
                      <a:r>
                        <a:rPr baseline="-25000" lang="en-US" sz="1800"/>
                        <a:t>hkl</a:t>
                      </a:r>
                      <a:endParaRPr baseline="-2500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0.4049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0.2025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=4f</a:t>
                      </a:r>
                      <a:r>
                        <a:rPr baseline="-25000" lang="en-US" sz="1800"/>
                        <a:t>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0.286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0.143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=4f</a:t>
                      </a:r>
                      <a:r>
                        <a:rPr baseline="-25000" lang="en-US" sz="1800"/>
                        <a:t>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499" name="Google Shape;499;p24"/>
          <p:cNvGrpSpPr/>
          <p:nvPr/>
        </p:nvGrpSpPr>
        <p:grpSpPr>
          <a:xfrm>
            <a:off x="773350" y="3585249"/>
            <a:ext cx="3183336" cy="2053192"/>
            <a:chOff x="773350" y="3585249"/>
            <a:chExt cx="3183336" cy="2053192"/>
          </a:xfrm>
        </p:grpSpPr>
        <p:grpSp>
          <p:nvGrpSpPr>
            <p:cNvPr id="500" name="Google Shape;500;p24"/>
            <p:cNvGrpSpPr/>
            <p:nvPr/>
          </p:nvGrpSpPr>
          <p:grpSpPr>
            <a:xfrm>
              <a:off x="773350" y="3585249"/>
              <a:ext cx="3183336" cy="2053192"/>
              <a:chOff x="793155" y="1412017"/>
              <a:chExt cx="4207362" cy="2804908"/>
            </a:xfrm>
          </p:grpSpPr>
          <p:pic>
            <p:nvPicPr>
              <p:cNvPr id="501" name="Google Shape;501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93155" y="1412017"/>
                <a:ext cx="4207362" cy="28049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2" name="Google Shape;502;p24"/>
              <p:cNvSpPr txBox="1"/>
              <p:nvPr/>
            </p:nvSpPr>
            <p:spPr>
              <a:xfrm>
                <a:off x="2756098" y="3625091"/>
                <a:ext cx="950722" cy="504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0-20</a:t>
                </a:r>
                <a:endParaRPr/>
              </a:p>
            </p:txBody>
          </p:sp>
          <p:sp>
            <p:nvSpPr>
              <p:cNvPr id="503" name="Google Shape;503;p24"/>
              <p:cNvSpPr txBox="1"/>
              <p:nvPr/>
            </p:nvSpPr>
            <p:spPr>
              <a:xfrm>
                <a:off x="3216440" y="2636496"/>
                <a:ext cx="825022" cy="504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</a:t>
                </a:r>
                <a:endParaRPr/>
              </a:p>
            </p:txBody>
          </p:sp>
        </p:grpSp>
        <p:sp>
          <p:nvSpPr>
            <p:cNvPr id="504" name="Google Shape;504;p24"/>
            <p:cNvSpPr txBox="1"/>
            <p:nvPr/>
          </p:nvSpPr>
          <p:spPr>
            <a:xfrm>
              <a:off x="2511728" y="3818743"/>
              <a:ext cx="719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220</a:t>
              </a:r>
              <a:endParaRPr/>
            </a:p>
          </p:txBody>
        </p:sp>
        <p:sp>
          <p:nvSpPr>
            <p:cNvPr id="505" name="Google Shape;505;p24"/>
            <p:cNvSpPr txBox="1"/>
            <p:nvPr/>
          </p:nvSpPr>
          <p:spPr>
            <a:xfrm>
              <a:off x="1517059" y="3929348"/>
              <a:ext cx="719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020</a:t>
              </a:r>
              <a:endParaRPr/>
            </a:p>
          </p:txBody>
        </p:sp>
        <p:sp>
          <p:nvSpPr>
            <p:cNvPr id="506" name="Google Shape;506;p24"/>
            <p:cNvSpPr txBox="1"/>
            <p:nvPr/>
          </p:nvSpPr>
          <p:spPr>
            <a:xfrm>
              <a:off x="1459383" y="4850899"/>
              <a:ext cx="719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-200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5"/>
          <p:cNvSpPr txBox="1"/>
          <p:nvPr>
            <p:ph type="title"/>
          </p:nvPr>
        </p:nvSpPr>
        <p:spPr>
          <a:xfrm>
            <a:off x="965662" y="419273"/>
            <a:ext cx="10515600" cy="478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Each DP corresponds to a different orientation of the crystal with respect to the e-beam </a:t>
            </a:r>
            <a:endParaRPr/>
          </a:p>
        </p:txBody>
      </p:sp>
      <p:pic>
        <p:nvPicPr>
          <p:cNvPr id="512" name="Google Shape;512;p25"/>
          <p:cNvPicPr preferRelativeResize="0"/>
          <p:nvPr/>
        </p:nvPicPr>
        <p:blipFill rotWithShape="1">
          <a:blip r:embed="rId3">
            <a:alphaModFix/>
          </a:blip>
          <a:srcRect b="0" l="0" r="3994" t="0"/>
          <a:stretch/>
        </p:blipFill>
        <p:spPr>
          <a:xfrm>
            <a:off x="423002" y="1230848"/>
            <a:ext cx="3165540" cy="219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5"/>
          <p:cNvPicPr preferRelativeResize="0"/>
          <p:nvPr/>
        </p:nvPicPr>
        <p:blipFill rotWithShape="1">
          <a:blip r:embed="rId4">
            <a:alphaModFix/>
          </a:blip>
          <a:srcRect b="0" l="0" r="3419" t="0"/>
          <a:stretch/>
        </p:blipFill>
        <p:spPr>
          <a:xfrm>
            <a:off x="4103977" y="1250462"/>
            <a:ext cx="3165540" cy="218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5"/>
          <p:cNvPicPr preferRelativeResize="0"/>
          <p:nvPr/>
        </p:nvPicPr>
        <p:blipFill rotWithShape="1">
          <a:blip r:embed="rId5">
            <a:alphaModFix/>
          </a:blip>
          <a:srcRect b="0" l="0" r="3485" t="0"/>
          <a:stretch/>
        </p:blipFill>
        <p:spPr>
          <a:xfrm>
            <a:off x="7784952" y="1242437"/>
            <a:ext cx="3165540" cy="21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5"/>
          <p:cNvPicPr preferRelativeResize="0"/>
          <p:nvPr/>
        </p:nvPicPr>
        <p:blipFill rotWithShape="1">
          <a:blip r:embed="rId6">
            <a:alphaModFix/>
          </a:blip>
          <a:srcRect b="19617" l="37705" r="38527" t="19791"/>
          <a:stretch/>
        </p:blipFill>
        <p:spPr>
          <a:xfrm>
            <a:off x="782030" y="4045746"/>
            <a:ext cx="2229898" cy="23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5"/>
          <p:cNvPicPr preferRelativeResize="0"/>
          <p:nvPr/>
        </p:nvPicPr>
        <p:blipFill rotWithShape="1">
          <a:blip r:embed="rId7">
            <a:alphaModFix/>
          </a:blip>
          <a:srcRect b="5580" l="33120" r="32586" t="4574"/>
          <a:stretch/>
        </p:blipFill>
        <p:spPr>
          <a:xfrm>
            <a:off x="4289101" y="3773662"/>
            <a:ext cx="2908293" cy="309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5"/>
          <p:cNvPicPr preferRelativeResize="0"/>
          <p:nvPr/>
        </p:nvPicPr>
        <p:blipFill rotWithShape="1">
          <a:blip r:embed="rId8">
            <a:alphaModFix/>
          </a:blip>
          <a:srcRect b="1954" l="33807" r="33822" t="3299"/>
          <a:stretch/>
        </p:blipFill>
        <p:spPr>
          <a:xfrm>
            <a:off x="8120606" y="3773662"/>
            <a:ext cx="2451358" cy="2915712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5"/>
          <p:cNvSpPr txBox="1"/>
          <p:nvPr/>
        </p:nvSpPr>
        <p:spPr>
          <a:xfrm>
            <a:off x="702359" y="3508071"/>
            <a:ext cx="2530027" cy="371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[001] projection</a:t>
            </a:r>
            <a:endParaRPr/>
          </a:p>
        </p:txBody>
      </p:sp>
      <p:sp>
        <p:nvSpPr>
          <p:cNvPr id="519" name="Google Shape;519;p25"/>
          <p:cNvSpPr txBox="1"/>
          <p:nvPr/>
        </p:nvSpPr>
        <p:spPr>
          <a:xfrm>
            <a:off x="4667367" y="3439034"/>
            <a:ext cx="2530027" cy="371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[-111] projection</a:t>
            </a:r>
            <a:endParaRPr/>
          </a:p>
        </p:txBody>
      </p:sp>
      <p:sp>
        <p:nvSpPr>
          <p:cNvPr id="520" name="Google Shape;520;p25"/>
          <p:cNvSpPr txBox="1"/>
          <p:nvPr/>
        </p:nvSpPr>
        <p:spPr>
          <a:xfrm>
            <a:off x="8333779" y="3459403"/>
            <a:ext cx="2530027" cy="371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[11-2] projection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